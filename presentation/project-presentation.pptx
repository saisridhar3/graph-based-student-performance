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457200"/>
            <a:ext cx="2560320" cy="256032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920240"/>
            <a:ext cx="1645920" cy="1645920"/>
          </a:xfrm>
          <a:prstGeom prst="ellipse">
            <a:avLst/>
          </a:prstGeom>
          <a:solidFill>
            <a:srgbClr val="22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2926080"/>
            <a:ext cx="1828800" cy="1828800"/>
          </a:xfrm>
          <a:prstGeom prst="ellipse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GRAPH-BASED PREDICTIVE</a:t>
            </a:r>
            <a:br/>
            <a:r>
              <a:t>ANALYTICS FOR STUDENT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EDEEF"/>
                </a:solidFill>
                <a:latin typeface="Aptos"/>
              </a:defRPr>
            </a:pPr>
            <a:r>
              <a:t>Student Similarity Networks • Centrality • Community Detection •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75734"/>
            <a:ext cx="3732432" cy="21698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Team members:</a:t>
            </a:r>
            <a:r>
              <a:rPr lang="en-IN" dirty="0"/>
              <a:t> 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Sai Teja</a:t>
            </a:r>
            <a:r>
              <a:rPr dirty="0"/>
              <a:t> / </a:t>
            </a:r>
            <a:r>
              <a:rPr lang="en-IN" dirty="0"/>
              <a:t>2320030180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Sai Sridhar / 2320030293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P. Vamsi Krishna Reddy / 2320090063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Department: </a:t>
            </a:r>
            <a:r>
              <a:rPr lang="en-IN" dirty="0"/>
              <a:t>CSE</a:t>
            </a:r>
            <a:r>
              <a:rPr dirty="0"/>
              <a:t>  |  Institution: </a:t>
            </a:r>
            <a:r>
              <a:rPr lang="en-IN" dirty="0"/>
              <a:t>KLH University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Guide: </a:t>
            </a:r>
            <a:r>
              <a:rPr lang="en-IN" dirty="0"/>
              <a:t>DR Kalpana</a:t>
            </a:r>
            <a:r>
              <a:rPr dirty="0"/>
              <a:t>  |  Academic Year: </a:t>
            </a:r>
            <a:r>
              <a:rPr lang="en-IN" dirty="0"/>
              <a:t>2026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Abstract &amp;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A network-based approach to understanding and predicting student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2044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82296" cy="192024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92224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67712"/>
            <a:ext cx="3154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Student records contain academic, demographic and behavioral factors. Individual-only models may miss relationships among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2044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82296" cy="1920240"/>
          </a:xfrm>
          <a:prstGeom prst="rect">
            <a:avLst/>
          </a:prstGeom>
          <a:solidFill>
            <a:srgbClr val="22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792224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67712"/>
            <a:ext cx="3154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Represent each student as a node and connect students with similar feature profiles. Analyze the network and derive graph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520440" cy="192024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82296" cy="192024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792224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267712"/>
            <a:ext cx="3154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Compare traditional regression models with graph-enhanced models for predicting final grade (G3).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42416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Dataset: UCI Student Performance Mathematics dataset (student-mat.csv)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Graph analytics: NetworkX; predictive modelling: scikit-learn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Evaluation: RMSE, MAE, and R²; report only measured results from the final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Problem Statement &amp;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521208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08760"/>
            <a:ext cx="82296" cy="182880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655063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30552"/>
            <a:ext cx="48463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Can relationships among students, represented as a similarity graph, provide useful information for predicting final academic grade?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82296" cy="1828800"/>
          </a:xfrm>
          <a:prstGeom prst="rect">
            <a:avLst/>
          </a:prstGeom>
          <a:solidFill>
            <a:srgbClr val="22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655063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Main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30552"/>
            <a:ext cx="48463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Build and analyze a student similarity network, then test whether graph-derived features add predictive value beyond selected student attributes.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424160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Explore academic and demographic data using descriptive statistics and plots.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Build an undirected, weighted similarity graph from selected features.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Apply shortest-path analysis, centrality measures, PageRank and community detection.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Compare traditional and graph-enhanced models using the same evaluation protocol.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Student Performance — Mathematics subset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0876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Dataset file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student-mat.csv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395 students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Original columns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33 variables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G3 — final-period grade (0–20)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Selected predictors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age, studytime, failures, absences, G1, G2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Graph identifiers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Synthetic IDs S001–S395 for network nodes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Data quality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Initial notebook check reported 0 missing values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System Architecture &amp;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290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82296" cy="150876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7007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1. Load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30632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student-mat.csv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54480"/>
            <a:ext cx="34290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26280" y="1554480"/>
            <a:ext cx="82296" cy="1508760"/>
          </a:xfrm>
          <a:prstGeom prst="rect">
            <a:avLst/>
          </a:prstGeom>
          <a:solidFill>
            <a:srgbClr val="22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7007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2. Explore &amp; 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176272"/>
            <a:ext cx="30632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EDA, select features,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4290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21040" y="1554480"/>
            <a:ext cx="82296" cy="150876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2208" y="17007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3. Build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2176272"/>
            <a:ext cx="30632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Similarity + K-nearest neighbors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34290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82296" cy="150876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581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4. Analyze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233672"/>
            <a:ext cx="30632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Dijkstra, centrality, PageRank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611880"/>
            <a:ext cx="34290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26280" y="3611880"/>
            <a:ext cx="82296" cy="1508760"/>
          </a:xfrm>
          <a:prstGeom prst="rect">
            <a:avLst/>
          </a:prstGeom>
          <a:solidFill>
            <a:srgbClr val="22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27448" y="37581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5. Detect communities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233672"/>
            <a:ext cx="30632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Greedy modularity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611880"/>
            <a:ext cx="34290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21040" y="3611880"/>
            <a:ext cx="82296" cy="150876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22208" y="37581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6. Predict &amp; 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4233672"/>
            <a:ext cx="30632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Traditional vs graph-enhanced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3233E"/>
                </a:solidFill>
                <a:latin typeface="Aptos"/>
              </a:defRPr>
            </a:pPr>
            <a:r>
              <a:t>Input data  →  Similarity graph  →  Graph features  →  Regression models  → 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Use the plots generated in Colab; interpretation prompts are not fabricated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82296" cy="182880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55063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Grade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G3 ranges from 0 to 20. The histogram shows the distribution and spread of final grades.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82296" cy="1828800"/>
          </a:xfrm>
          <a:prstGeom prst="rect">
            <a:avLst/>
          </a:prstGeom>
          <a:solidFill>
            <a:srgbClr val="22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55063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Grade progression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3055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G1 and G2 show strong positive associations with G3 in the notebook's correlation plot.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7472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82296" cy="182880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655063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Other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13055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Study time, past failures and absences can be explored for patterns; association does not establish causation.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033272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Figures created: G3 histogram, study-time boxplot, failures boxplot, absences scatterplot, correlation heatmap, G1/G2 vs G3 scatterplots.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Insert the actual generated plots or screenshots from your Colab notebook into this slide if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Student Similarity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A node represents a student; an edge represents a similarity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201168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82296" cy="201168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55063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395 student nodes, identified as S001–S395.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201168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82296" cy="2011680"/>
          </a:xfrm>
          <a:prstGeom prst="rect">
            <a:avLst/>
          </a:prstGeom>
          <a:solidFill>
            <a:srgbClr val="22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55063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30552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The current notebook reported 1,310 edges.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201168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82296" cy="201168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655063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Network density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130552"/>
            <a:ext cx="30175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Approximately 0.0168, meaning the network is sparse relative to all possible undirected connections.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24128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Graph type: undirected and weighted.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Edge attributes include distance (dissimilarity) and similarity (relationship strength).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Use distance as the weight for Dijkstra's shortest-path calculation; use similarity for strength-based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Centrality &amp; Community Detection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1732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Technique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 in this project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Degree centrality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Relative number of direct connections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Closeness centrality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Distance-based reachability to other nodes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Betweenness centrality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How often a node lies on shortest paths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Eigenvector centrality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Connections to other influential nodes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PageRank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Importance based on the network's link structure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Community detection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Greedy modularity partitions the network into groups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Machine Learning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5120640" cy="219456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82296" cy="219456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55063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Traditional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475487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Inputs: age, studytime, failures, absences, G1 and G2.</a:t>
            </a:r>
            <a:br/>
            <a:br/>
            <a:r>
              <a:t>Provides the baseline using selected student-level variables.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120640" cy="219456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82296" cy="2194560"/>
          </a:xfrm>
          <a:prstGeom prst="rect">
            <a:avLst/>
          </a:prstGeom>
          <a:solidFill>
            <a:srgbClr val="22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655063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Graph-enhanced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30552"/>
            <a:ext cx="475487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Inputs: the same student-level variables plus centrality, PageRank and community features.</a:t>
            </a:r>
            <a:br/>
            <a:br/>
            <a:r>
              <a:t>Tests whether network information adds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332720" cy="1508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Regression algorithms compared: Linear Regression, Random Forest and Gradient Boosting.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Evaluation metrics: RMSE and MAE (lower is better); R² (higher is generally better).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Use the same train/test split and five-fold cross-validation for model comparisons.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Actual Results &amp;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482"/>
                </a:solidFill>
                <a:latin typeface="Aptos"/>
              </a:defRPr>
            </a:pPr>
            <a:r>
              <a:t>Replace placeholders with values from final_model_comparison.csv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9372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 set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RMSE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MAE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R²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CV RMSE</a:t>
                      </a:r>
                    </a:p>
                  </a:txBody>
                  <a:tcPr marL="73152" marR="54864" marT="36576" marB="36576" anchor="ctr">
                    <a:solidFill>
                      <a:srgbClr val="132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Traditional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Graph-enhanced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Traditional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Graph-enhanced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Traditional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Graph-enhanced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[insert]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A54E2E"/>
                </a:solidFill>
                <a:latin typeface="Aptos"/>
              </a:defRPr>
            </a:pPr>
            <a:r>
              <a:t>Do not claim graph enhancement improved performance unless the measured test and cross-validation metrics support that conclusion.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Conclusion, Limitations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520440" cy="320040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82296" cy="3200400"/>
          </a:xfrm>
          <a:prstGeom prst="rect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609344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84832"/>
            <a:ext cx="315468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The project models student similarity as a weighted graph and combines network analysis with regression to investigate final-grade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320040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82296" cy="320040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609344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84832"/>
            <a:ext cx="315468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Small single-dataset study; graph constructed before train/test split; G1/G2 are strong predictors; centrality is not academic 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63040"/>
            <a:ext cx="3520440" cy="3200400"/>
          </a:xfrm>
          <a:prstGeom prst="roundRect">
            <a:avLst/>
          </a:prstGeom>
          <a:solidFill>
            <a:srgbClr val="EFF5FA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1463040"/>
            <a:ext cx="82296" cy="3200400"/>
          </a:xfrm>
          <a:prstGeom prst="rect">
            <a:avLst/>
          </a:prstGeom>
          <a:solidFill>
            <a:srgbClr val="22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1609344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3233E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084832"/>
            <a:ext cx="315468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Aptos"/>
              </a:defRPr>
            </a:pPr>
            <a:r>
              <a:t>Evaluate on additional datasets; build leakage-safe inductive graphs; test new-student insertion; explore alternative similarity thresholds and graph-learning methods.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48"/>
                </a:solidFill>
                <a:latin typeface="Aptos"/>
              </a:defRPr>
            </a:pPr>
            <a:r>
              <a:t>• Final conclusion must be updated after reviewing the actual model comparison.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109728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11. References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Cortez, P. &amp; Silva, A. (2008). Using Data Mining to Predict Secondary School Student Performance.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NetworkX documentation: https://networkx.org/documentation/stable/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scikit-learn documentation: https://scikit-learn.org/stable/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pandas documentation: https://pandas.pydata.org/docs/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Dataset: UCI Machine Learning Repository — Student Performance dataset (verify/cite the exact dataset page used).</a:t>
            </a:r>
          </a:p>
          <a:p>
            <a:pPr>
              <a:spcAft>
                <a:spcPts val="12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Demo sequence: load data → display network statistics → inspect communities/centrality → show model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482"/>
                </a:solidFill>
                <a:latin typeface="Aptos"/>
              </a:defRPr>
            </a:pPr>
            <a:r>
              <a:t>GRAPH-BASED PREDICTIVE ANALYTICS FOR STUDENT PERFORMANCE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1199</Words>
  <Application>Microsoft Office PowerPoint</Application>
  <PresentationFormat>Widescreen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Sridhar</cp:lastModifiedBy>
  <cp:revision>2</cp:revision>
  <dcterms:created xsi:type="dcterms:W3CDTF">2013-01-27T09:14:16Z</dcterms:created>
  <dcterms:modified xsi:type="dcterms:W3CDTF">2026-10-29T05:30:36Z</dcterms:modified>
  <cp:category/>
</cp:coreProperties>
</file>